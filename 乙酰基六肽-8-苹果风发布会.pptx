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欢迎了解瑞德林 WrinFix-H8™ 乙酰基六肽-8，聚焦即时祛皱功效原料。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皱纹是第三大肌肤问题，占比约 71%，抗皱原料需求明确。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松弛、皱纹、暗沉是显老主因；动态纹集中在眼周与眉间。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乙酰基六肽-8 模拟 SNAP-25，分子量 888.9，对标原研。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通过抑制 SNARE 复合蛋白形成，减少神经递质释放。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同时改善静态纹与动态纹，可与其他肽类协同。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200 ppm 使用 4 周，紧致指标最高改善约 12%。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皮肤弹性 R2 显著提升，数据具有统计学意义。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瑞德林在产能、一致性、稳定性与供应链服务上的综合优势。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质谱与 HPLC 与对照品一致，体外活性稳定。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百公斤级年产，多批次交付，公司核心大单品。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添加量 50–500 ppm，配套法规与功效文件齐全。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斑贴无不良反应，完整安评体系支撑。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欢迎进一步索取 COA、功效报告与配方支持。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21332" y="2084070"/>
            <a:ext cx="4749336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乙酰基六肽-8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70108" y="3040380"/>
            <a:ext cx="285178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WrinFix-H8™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29278" y="3836670"/>
            <a:ext cx="39334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即时祛皱 · 可编辑原生 PPT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12945" y="4758690"/>
            <a:ext cx="31661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深圳瑞德林生物技术有限公司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89660" y="689610"/>
            <a:ext cx="128282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皱纹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8710" y="1518285"/>
            <a:ext cx="330898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第三大普遍肌肤问题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1560" y="2842260"/>
            <a:ext cx="1594256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71%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6330" y="4059555"/>
            <a:ext cx="20135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消费者关注占比</a:t>
            </a:r>
          </a:p>
        </p:txBody>
      </p:sp>
      <p:sp>
        <p:nvSpPr>
          <p:cNvPr id="7" name="Rectangle 7"/>
          <p:cNvSpPr/>
          <p:nvPr/>
        </p:nvSpPr>
        <p:spPr>
          <a:xfrm>
            <a:off x="6477000" y="1524000"/>
            <a:ext cx="4572000" cy="38100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831330" y="2059305"/>
            <a:ext cx="20135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美丽修行大数据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27520" y="2598420"/>
            <a:ext cx="426948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快节奏生活 → 皮肤问题常态化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27520" y="3169920"/>
            <a:ext cx="262128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抗皱需求持续上升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27520" y="3741420"/>
            <a:ext cx="326136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原料端需要可验证功效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102292" y="880110"/>
            <a:ext cx="598741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显老，从肌肤状态开始</a:t>
            </a:r>
          </a:p>
        </p:txBody>
      </p:sp>
      <p:sp>
        <p:nvSpPr>
          <p:cNvPr id="4" name="Rectangle 4"/>
          <p:cNvSpPr/>
          <p:nvPr/>
        </p:nvSpPr>
        <p:spPr>
          <a:xfrm>
            <a:off x="1143000" y="2095500"/>
            <a:ext cx="3048000" cy="3619500"/>
          </a:xfrm>
          <a:prstGeom prst="roundRect">
            <a:avLst>
              <a:gd name="adj" fmla="val 6250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2051571" y="2529840"/>
            <a:ext cx="1230859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88%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64080" y="342519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皮肤松弛</a:t>
            </a:r>
          </a:p>
        </p:txBody>
      </p:sp>
      <p:sp>
        <p:nvSpPr>
          <p:cNvPr id="7" name="Rectangle 7"/>
          <p:cNvSpPr/>
          <p:nvPr/>
        </p:nvSpPr>
        <p:spPr>
          <a:xfrm>
            <a:off x="4572000" y="2095500"/>
            <a:ext cx="3048000" cy="3619500"/>
          </a:xfrm>
          <a:prstGeom prst="roundRect">
            <a:avLst>
              <a:gd name="adj" fmla="val 6250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480571" y="2529840"/>
            <a:ext cx="1230859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87%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33110" y="3425190"/>
            <a:ext cx="5257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皱纹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001000" y="2095500"/>
            <a:ext cx="3048000" cy="3619500"/>
          </a:xfrm>
          <a:prstGeom prst="roundRect">
            <a:avLst>
              <a:gd name="adj" fmla="val 6250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909571" y="2529840"/>
            <a:ext cx="1230859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76%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62110" y="3425190"/>
            <a:ext cx="5257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暗沉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36911" y="5901690"/>
            <a:ext cx="371817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动态纹：鱼尾纹 · 抬头纹 · 川字纹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21332" y="1322070"/>
            <a:ext cx="4749336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乙酰基六肽-8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97618" y="2438400"/>
            <a:ext cx="459676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模拟 SNAP-25 · 即时抗皱</a:t>
            </a:r>
          </a:p>
        </p:txBody>
      </p:sp>
      <p:sp>
        <p:nvSpPr>
          <p:cNvPr id="5" name="Rectangle 5"/>
          <p:cNvSpPr/>
          <p:nvPr/>
        </p:nvSpPr>
        <p:spPr>
          <a:xfrm>
            <a:off x="1905000" y="3429000"/>
            <a:ext cx="8382000" cy="2476500"/>
          </a:xfrm>
          <a:prstGeom prst="roundRect">
            <a:avLst>
              <a:gd name="adj" fmla="val 9231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261235" y="3789998"/>
            <a:ext cx="476912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INCI：乙酰基六肽-8 | CAS：616204-22-9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61235" y="4266248"/>
            <a:ext cx="600427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分子量 888.9 | Ac-Glu-Glu-Met-Gln-Arg-Arg-NH2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61235" y="4742498"/>
            <a:ext cx="398902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对标原研一致性 · 规模化稳定供应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65045" y="5251132"/>
            <a:ext cx="223118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Readline WrinFix-H8™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97280" y="563880"/>
            <a:ext cx="109956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机理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2520" y="1264920"/>
            <a:ext cx="340537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竞争 SNAP-25 结合位点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1143000" y="2095500"/>
            <a:ext cx="9906000" cy="4000500"/>
          </a:xfrm>
          <a:prstGeom prst="roundRect">
            <a:avLst>
              <a:gd name="adj" fmla="val 5714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80210" y="25660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突触前膜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87830" y="3202305"/>
            <a:ext cx="32317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抑制 SNARE 复合蛋白形成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87830" y="3678555"/>
            <a:ext cx="22936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减少神经递质释放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7830" y="4154805"/>
            <a:ext cx="401583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抑制肌肉过度收缩 → 减少动态纹</a:t>
            </a:r>
          </a:p>
        </p:txBody>
      </p:sp>
      <p:sp>
        <p:nvSpPr>
          <p:cNvPr id="10" name="Line 10"/>
          <p:cNvSpPr/>
          <p:nvPr/>
        </p:nvSpPr>
        <p:spPr>
          <a:xfrm>
            <a:off x="6667500" y="30480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28575">
            <a:solidFill>
              <a:srgbClr val="2997FF"/>
            </a:solidFill>
          </a:ln>
        </p:spPr>
      </p:sp>
      <p:sp>
        <p:nvSpPr>
          <p:cNvPr id="11" name="Line 11"/>
          <p:cNvSpPr/>
          <p:nvPr/>
        </p:nvSpPr>
        <p:spPr>
          <a:xfrm>
            <a:off x="10477500" y="3048000"/>
            <a:ext cx="9525" cy="1905000"/>
          </a:xfrm>
          <a:custGeom>
            <a:avLst/>
            <a:gdLst/>
            <a:ahLst/>
            <a:cxnLst/>
            <a:rect l="l" t="t" r="r" b="b"/>
            <a:pathLst>
              <a:path w="9525"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noFill/>
          <a:ln w="28575">
            <a:solidFill>
              <a:srgbClr val="2997FF"/>
            </a:solidFill>
          </a:ln>
        </p:spPr>
      </p:sp>
      <p:sp>
        <p:nvSpPr>
          <p:cNvPr id="12" name="Line 12"/>
          <p:cNvSpPr/>
          <p:nvPr/>
        </p:nvSpPr>
        <p:spPr>
          <a:xfrm>
            <a:off x="6667500" y="49530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28575">
            <a:solidFill>
              <a:srgbClr val="2997FF"/>
            </a:solidFill>
          </a:ln>
        </p:spPr>
      </p:sp>
      <p:sp>
        <p:nvSpPr>
          <p:cNvPr id="13" name="Line 13"/>
          <p:cNvSpPr/>
          <p:nvPr/>
        </p:nvSpPr>
        <p:spPr>
          <a:xfrm>
            <a:off x="6667500" y="3048000"/>
            <a:ext cx="9525" cy="1905000"/>
          </a:xfrm>
          <a:custGeom>
            <a:avLst/>
            <a:gdLst/>
            <a:ahLst/>
            <a:cxnLst/>
            <a:rect l="l" t="t" r="r" b="b"/>
            <a:pathLst>
              <a:path w="9525"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noFill/>
          <a:ln w="28575">
            <a:solidFill>
              <a:srgbClr val="2997FF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64670" y="3869055"/>
            <a:ext cx="26156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SNAP-25 结构域模拟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93545" y="4965382"/>
            <a:ext cx="34963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200 ppm · 24h 表皮渗透率约 0.01%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42154" y="5638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动静结合</a:t>
            </a:r>
          </a:p>
        </p:txBody>
      </p:sp>
      <p:sp>
        <p:nvSpPr>
          <p:cNvPr id="4" name="Rectangle 4"/>
          <p:cNvSpPr/>
          <p:nvPr/>
        </p:nvSpPr>
        <p:spPr>
          <a:xfrm>
            <a:off x="1143000" y="1714500"/>
            <a:ext cx="4953000" cy="4191000"/>
          </a:xfrm>
          <a:prstGeom prst="roundRect">
            <a:avLst>
              <a:gd name="adj" fmla="val 5455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2951321" y="2152650"/>
            <a:ext cx="13363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静态纹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52725" y="2916555"/>
            <a:ext cx="17335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增加皮肤弹性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72690" y="3583305"/>
            <a:ext cx="22936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改善细纹与松弛感</a:t>
            </a:r>
          </a:p>
        </p:txBody>
      </p:sp>
      <p:sp>
        <p:nvSpPr>
          <p:cNvPr id="8" name="Rectangle 8"/>
          <p:cNvSpPr/>
          <p:nvPr/>
        </p:nvSpPr>
        <p:spPr>
          <a:xfrm>
            <a:off x="6096000" y="1714500"/>
            <a:ext cx="4953000" cy="4191000"/>
          </a:xfrm>
          <a:prstGeom prst="roundRect">
            <a:avLst>
              <a:gd name="adj" fmla="val 5455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904321" y="2152650"/>
            <a:ext cx="13363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动态纹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05725" y="2916555"/>
            <a:ext cx="17335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抑制肌肉运动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5708" y="3583305"/>
            <a:ext cx="20135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减少表情纹加深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72915" y="6092190"/>
            <a:ext cx="36461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可与类蛇毒肽、芋螺肽等协同配方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97280" y="7543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人体功效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6330" y="1440180"/>
            <a:ext cx="47999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200 ppm · 4 周 · 中国健康女性受试者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1560" y="2461260"/>
            <a:ext cx="3257664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−12.0%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6330" y="3773805"/>
            <a:ext cx="29657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28 天皮肤紧致程度改善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0140" y="4377690"/>
            <a:ext cx="28180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7 天 −8.5% · 14 天 −10.9%</a:t>
            </a:r>
          </a:p>
        </p:txBody>
      </p:sp>
      <p:sp>
        <p:nvSpPr>
          <p:cNvPr id="8" name="Rectangle 8"/>
          <p:cNvSpPr/>
          <p:nvPr/>
        </p:nvSpPr>
        <p:spPr>
          <a:xfrm>
            <a:off x="5905500" y="1714500"/>
            <a:ext cx="5143500" cy="381000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256020" y="2217420"/>
            <a:ext cx="166116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统计学显著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59830" y="2821305"/>
            <a:ext cx="302171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平均年龄 46.0 ± 7.2 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59830" y="3392805"/>
            <a:ext cx="324573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连续使用含 200 ppm 产品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59830" y="3964305"/>
            <a:ext cx="25736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紧致与弹性同步提升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689310" y="944880"/>
            <a:ext cx="281338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皮肤弹性 R2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09260" y="1868805"/>
            <a:ext cx="11734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显著提升</a:t>
            </a:r>
          </a:p>
        </p:txBody>
      </p:sp>
      <p:sp>
        <p:nvSpPr>
          <p:cNvPr id="5" name="Rectangle 5"/>
          <p:cNvSpPr/>
          <p:nvPr/>
        </p:nvSpPr>
        <p:spPr>
          <a:xfrm>
            <a:off x="2286000" y="2667000"/>
            <a:ext cx="7620000" cy="3048000"/>
          </a:xfrm>
          <a:prstGeom prst="roundRect">
            <a:avLst>
              <a:gd name="adj" fmla="val 7500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3048000" y="4572000"/>
            <a:ext cx="762000" cy="762000"/>
          </a:xfrm>
          <a:prstGeom prst="rect">
            <a:avLst/>
          </a:prstGeom>
          <a:solidFill>
            <a:srgbClr val="2997FF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4191000" y="4000500"/>
            <a:ext cx="762000" cy="1333500"/>
          </a:xfrm>
          <a:prstGeom prst="rect">
            <a:avLst/>
          </a:prstGeom>
          <a:solidFill>
            <a:srgbClr val="2997FF">
              <a:alpha val="85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0" y="3429000"/>
            <a:ext cx="762000" cy="1905000"/>
          </a:xfrm>
          <a:prstGeom prst="rect">
            <a:avLst/>
          </a:prstGeom>
          <a:solidFill>
            <a:srgbClr val="2997FF">
              <a:alpha val="7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6477000" y="3048000"/>
            <a:ext cx="762000" cy="2286000"/>
          </a:xfrm>
          <a:prstGeom prst="rect">
            <a:avLst/>
          </a:prstGeom>
          <a:solidFill>
            <a:srgbClr val="2997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299936" y="536257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0D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42936" y="536257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7D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55932" y="5362575"/>
            <a:ext cx="3181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14D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73929" y="5362575"/>
            <a:ext cx="3681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28D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34852" y="5917882"/>
            <a:ext cx="31222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示意：弹性指标随使用时间改善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01090" y="405765"/>
            <a:ext cx="331822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瑞德林供应优势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0140" y="1043940"/>
            <a:ext cx="50383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8 年化妆品原料深耕 · 服务全球近 3000 家客户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8735" y="1694498"/>
            <a:ext cx="391101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① 国标参照样品制定，质量可追溯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08735" y="2265998"/>
            <a:ext cx="497714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② 分子量/序列/功效一致性评价，对标原研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8735" y="2837498"/>
            <a:ext cx="348195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③ 80℃ 8h 高温稳定性验证通过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8735" y="3408998"/>
            <a:ext cx="443107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④ 年产百公斤级纯粉，多批次稳定交付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8735" y="3980498"/>
            <a:ext cx="495114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⑤ 供应链整合：降本、提质、规避原料风险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429500" y="1524000"/>
            <a:ext cx="3619500" cy="4572000"/>
          </a:xfrm>
          <a:prstGeom prst="roundRect">
            <a:avLst>
              <a:gd name="adj" fmla="val 6316"/>
            </a:avLst>
          </a:prstGeom>
          <a:solidFill>
            <a:srgbClr val="2997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118074" y="3137535"/>
            <a:ext cx="224235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WrinFix-H8™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48199" y="3822382"/>
            <a:ext cx="15821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公司第一大单品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790122" y="754380"/>
            <a:ext cx="261175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一致性评价</a:t>
            </a:r>
          </a:p>
        </p:txBody>
      </p:sp>
      <p:sp>
        <p:nvSpPr>
          <p:cNvPr id="4" name="Rectangle 4"/>
          <p:cNvSpPr/>
          <p:nvPr/>
        </p:nvSpPr>
        <p:spPr>
          <a:xfrm>
            <a:off x="1524000" y="1905000"/>
            <a:ext cx="4000500" cy="3810000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157728" y="2407920"/>
            <a:ext cx="7330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质谱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21255" y="3044190"/>
            <a:ext cx="22059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分子量与对照品一致</a:t>
            </a:r>
          </a:p>
        </p:txBody>
      </p:sp>
      <p:sp>
        <p:nvSpPr>
          <p:cNvPr id="7" name="Rectangle 7"/>
          <p:cNvSpPr/>
          <p:nvPr/>
        </p:nvSpPr>
        <p:spPr>
          <a:xfrm>
            <a:off x="6667500" y="1905000"/>
            <a:ext cx="4000500" cy="3810000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267624" y="2407920"/>
            <a:ext cx="8002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HPLC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44740" y="3044190"/>
            <a:ext cx="24460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保留时间与对照品一致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02881" y="5901690"/>
            <a:ext cx="41862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体外 PC12：神经递质分泌抑制活性稳定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51560" y="1127760"/>
            <a:ext cx="2148726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100+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8710" y="2566035"/>
            <a:ext cx="141064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公斤/年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6330" y="3202305"/>
            <a:ext cx="355377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纯粉产能规模（2023 年起）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6330" y="3773805"/>
            <a:ext cx="401583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多批次稳定交付 · 客户长期验证</a:t>
            </a:r>
          </a:p>
        </p:txBody>
      </p:sp>
      <p:sp>
        <p:nvSpPr>
          <p:cNvPr id="7" name="Rectangle 7"/>
          <p:cNvSpPr/>
          <p:nvPr/>
        </p:nvSpPr>
        <p:spPr>
          <a:xfrm>
            <a:off x="5524500" y="1333500"/>
            <a:ext cx="5524500" cy="4572000"/>
          </a:xfrm>
          <a:prstGeom prst="roundRect">
            <a:avLst>
              <a:gd name="adj" fmla="val 5000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875020" y="1836420"/>
            <a:ext cx="27492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放心用在大单品里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80735" y="2551748"/>
            <a:ext cx="238982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销售额贡献第一原料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80735" y="3123248"/>
            <a:ext cx="212979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价格优势高于原研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80735" y="3694748"/>
            <a:ext cx="385900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完整 COA / SPEC / 功效报告体系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01090" y="501015"/>
            <a:ext cx="239410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规格与应用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06830" y="1392555"/>
            <a:ext cx="13975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纯度 ≥ 99%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6830" y="1868805"/>
            <a:ext cx="346976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易溶于水 · 2–8°C 避光防潮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06830" y="2345055"/>
            <a:ext cx="306371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建议添加量 50–500 ppm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6830" y="2821305"/>
            <a:ext cx="27276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pH 适用范围 4.0–7.0</a:t>
            </a:r>
          </a:p>
        </p:txBody>
      </p:sp>
      <p:sp>
        <p:nvSpPr>
          <p:cNvPr id="8" name="Rectangle 8"/>
          <p:cNvSpPr/>
          <p:nvPr/>
        </p:nvSpPr>
        <p:spPr>
          <a:xfrm>
            <a:off x="5905500" y="1143000"/>
            <a:ext cx="5143500" cy="4953000"/>
          </a:xfrm>
          <a:prstGeom prst="roundRect">
            <a:avLst>
              <a:gd name="adj" fmla="val 4615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259830" y="14878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配套文件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63640" y="1996440"/>
            <a:ext cx="357416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SPEC · COA · MSDS · TDS · 安评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63640" y="2472690"/>
            <a:ext cx="34541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体外/人体功效报告 · HPLC 谱图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63640" y="2948940"/>
            <a:ext cx="31541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COSMOS · HALAL · 配方参考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63640" y="3615690"/>
            <a:ext cx="41262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三肽组合：可与类蛇毒肽、芋螺肽协同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60550" y="1070610"/>
            <a:ext cx="187090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安全性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09238" y="2026920"/>
            <a:ext cx="457352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人体斑贴：200 ppm 无不良反应</a:t>
            </a:r>
          </a:p>
        </p:txBody>
      </p:sp>
      <p:sp>
        <p:nvSpPr>
          <p:cNvPr id="5" name="Rectangle 5"/>
          <p:cNvSpPr/>
          <p:nvPr/>
        </p:nvSpPr>
        <p:spPr>
          <a:xfrm>
            <a:off x="1905000" y="2857500"/>
            <a:ext cx="8382000" cy="2667000"/>
          </a:xfrm>
          <a:prstGeom prst="roundRect">
            <a:avLst>
              <a:gd name="adj" fmla="val 8571"/>
            </a:avLst>
          </a:prstGeom>
          <a:solidFill>
            <a:srgbClr val="1D1D1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046077" y="3583305"/>
            <a:ext cx="409984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急性毒性 / 刺激性 / 致敏 / 光毒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7045" y="4059555"/>
            <a:ext cx="46179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遗传毒性 / 重复剂量 — 完整安评支撑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24839" y="4774882"/>
            <a:ext cx="33423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可按需提供第三方完整版安评报告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985184" y="1958340"/>
            <a:ext cx="422163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5F5F7"/>
                </a:solidFill>
                <a:latin typeface="Arial"/>
                <a:ea typeface="Microsoft YaHei"/>
                <a:cs typeface="Arial"/>
              </a:rPr>
              <a:t>乙酰基六肽-8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07756" y="3009900"/>
            <a:ext cx="237648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dirty="0">
                <a:solidFill>
                  <a:srgbClr val="2997FF"/>
                </a:solidFill>
                <a:latin typeface="Arial"/>
                <a:ea typeface="Microsoft YaHei"/>
                <a:cs typeface="Arial"/>
              </a:rPr>
              <a:t>WrinFix-H8™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27062" y="3869055"/>
            <a:ext cx="433787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即时祛皱 · 对标原研 · 规模化交付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12945" y="4758690"/>
            <a:ext cx="31661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深圳瑞德林生物技术有限公司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76900" y="53625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A1A1A6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05528" y="6458902"/>
            <a:ext cx="11188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A1A1A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Readline Biotech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